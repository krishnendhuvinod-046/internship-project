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Times" panose="02020603050405020304" pitchFamily="18" charset="0"/>
      <p:regular r:id="rId13"/>
      <p:bold r:id="rId14"/>
      <p:italic r:id="rId15"/>
      <p:boldItalic r:id="rId16"/>
    </p:embeddedFont>
    <p:embeddedFont>
      <p:font typeface="Urbanist" panose="020B0604020202020204" charset="0"/>
      <p:regular r:id="rId17"/>
      <p:bold r:id="rId18"/>
      <p:italic r:id="rId19"/>
      <p:boldItalic r:id="rId20"/>
    </p:embeddedFont>
    <p:embeddedFont>
      <p:font typeface="Urbanist Medium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2875" y="2200275"/>
            <a:ext cx="119062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Strategic Customer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Retention Analysis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85750" y="3533775"/>
            <a:ext cx="11620500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Predicting Churn &amp; Maximizing Revenue using SQL &amp; Machine Learning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Submitted  by: Krishnendhu P A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205037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42875" y="2528887"/>
            <a:ext cx="119062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Executive Summary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85750" y="3529012"/>
            <a:ext cx="1162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Identifying high-risk customer segments to deploy predictive retention strategies.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1714500"/>
            <a:ext cx="561975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14500"/>
            <a:ext cx="561975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285750" y="285750"/>
            <a:ext cx="713089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Challenge &amp; Objective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66750" y="2095500"/>
            <a:ext cx="510063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Problem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6750" y="2609850"/>
            <a:ext cx="48577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Customer churn is eroding recurring revenue. Identifying who leaves is reactive; identifying why they leave is proactive.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67500" y="2095500"/>
            <a:ext cx="510063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Objective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67500" y="2609850"/>
            <a:ext cx="48577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Analyze historical customer behavior using SQL, build a Machine Learning model to predict churn risk, and deliver actionable strategies.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2090737"/>
            <a:ext cx="3683049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4549" y="2090737"/>
            <a:ext cx="3683049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3349" y="2090737"/>
            <a:ext cx="3683049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285750" y="285750"/>
            <a:ext cx="670083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Methodology: Tech Stack</a:t>
            </a:r>
            <a:endParaRPr/>
          </a:p>
        </p:txBody>
      </p:sp>
      <p:pic>
        <p:nvPicPr>
          <p:cNvPr id="116" name="Google Shape;11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37648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3186112"/>
            <a:ext cx="32671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SQL Engineering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3986212"/>
            <a:ext cx="311154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Ingested raw logs, normalized schema to snake_case, and engineered the "High Value at Risk" feature.</a:t>
            </a:r>
            <a:endParaRPr/>
          </a:p>
        </p:txBody>
      </p:sp>
      <p:pic>
        <p:nvPicPr>
          <p:cNvPr id="119" name="Google Shape;11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0299" y="237648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4540299" y="3186112"/>
            <a:ext cx="32671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Predictive ML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540299" y="3986212"/>
            <a:ext cx="311154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Built an XGBoost Classifier with SMOTE to handle class imbalance (85/15 split).</a:t>
            </a:r>
            <a:endParaRPr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9099" y="237648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509099" y="3186112"/>
            <a:ext cx="32671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Explainability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09099" y="3986212"/>
            <a:ext cx="311154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Utilized SHAP (SHapley Additive exPlanations) to decode predictions and find root causes.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7237" y="254793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11749" y="25479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80549" y="2547937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740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285750" y="285750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Phase 1: SQL Insights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285750" y="1714500"/>
            <a:ext cx="614311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"It's Not About Usage"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285750" y="2228850"/>
            <a:ext cx="585058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Our analysis revealed a critical insight: Average Call Duration is actually higher for some churners.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285750" y="2952750"/>
            <a:ext cx="5850582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These are not dormant users; they are active users who became frustrated. The SQL query on the right isolates this specific "High Value at Risk" segment.</a:t>
            </a:r>
            <a:endParaRPr/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631634" y="2762250"/>
            <a:ext cx="5274616" cy="794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1714500"/>
            <a:ext cx="116205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285750" y="285750"/>
            <a:ext cx="756094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Phase 2: Model Performance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285750" y="4938712"/>
            <a:ext cx="116205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model maintains high precision while capturing nearly 79% of all potential churners, minimizing false alarms.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Phase 3: Root Cause</a:t>
            </a:r>
            <a:endParaRPr/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334125" y="484965"/>
            <a:ext cx="5857875" cy="588807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571500" y="27908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SHAP Analysis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71500" y="3305175"/>
            <a:ext cx="5286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SHAP summary plot confirms that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Complaints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are the strongest predictor of churn.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71500" y="4029075"/>
            <a:ext cx="528637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Surprisingly,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Frequency of Use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has a negative correlation with churn. Heavy users are more loyal, provided they don't experience service failures.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2224087"/>
            <a:ext cx="3683049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4549" y="2224087"/>
            <a:ext cx="3683049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3349" y="2224087"/>
            <a:ext cx="3683049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285750" y="285750"/>
            <a:ext cx="757094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Strategic Recommendations</a:t>
            </a:r>
            <a:endParaRPr/>
          </a:p>
        </p:txBody>
      </p:sp>
      <p:pic>
        <p:nvPicPr>
          <p:cNvPr id="166" name="Google Shape;16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5098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571500" y="3319462"/>
            <a:ext cx="32671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Service Recovery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571500" y="4119562"/>
            <a:ext cx="311154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Route "High Value" complainers to Senior Support immediately to resolve issues before renewal.</a:t>
            </a:r>
            <a:endParaRPr/>
          </a:p>
        </p:txBody>
      </p:sp>
      <p:pic>
        <p:nvPicPr>
          <p:cNvPr id="169" name="Google Shape;16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0299" y="25098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4540299" y="3319462"/>
            <a:ext cx="32671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Loyalty Lock-In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4540299" y="4119562"/>
            <a:ext cx="311154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Target heavy users with long-term upgrades rather than discounts, leveraging their habit.</a:t>
            </a:r>
            <a:endParaRPr/>
          </a:p>
        </p:txBody>
      </p:sp>
      <p:pic>
        <p:nvPicPr>
          <p:cNvPr id="172" name="Google Shape;17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9099" y="25098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8509099" y="3319462"/>
            <a:ext cx="32671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Silent Warning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8509099" y="4119562"/>
            <a:ext cx="311154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Monitor "Seconds of Use". A sudden drop is a leading indicator of churn before cancellation.</a:t>
            </a:r>
            <a:endParaRPr/>
          </a:p>
        </p:txBody>
      </p:sp>
      <p:pic>
        <p:nvPicPr>
          <p:cNvPr id="175" name="Google Shape;175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2950" y="26812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26037" y="26812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94836" y="2681287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285750" y="285750"/>
            <a:ext cx="415051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Impact Analysis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285750" y="2919412"/>
            <a:ext cx="2857500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dirty="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US" sz="11250" b="1" i="0" u="none" strike="noStrike" cap="none" dirty="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</a:t>
            </a:r>
            <a:endParaRPr dirty="0"/>
          </a:p>
        </p:txBody>
      </p:sp>
      <p:sp>
        <p:nvSpPr>
          <p:cNvPr id="185" name="Google Shape;185;p21"/>
          <p:cNvSpPr txBox="1"/>
          <p:nvPr/>
        </p:nvSpPr>
        <p:spPr>
          <a:xfrm>
            <a:off x="285750" y="4443412"/>
            <a:ext cx="2857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High Value Users at Risk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3714750" y="3190875"/>
            <a:ext cx="8477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Revenue Protection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3714750" y="3705225"/>
            <a:ext cx="81915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Implementing these strategies targets 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20% 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of top-tier users currently flagged as "At Risk", potentially saving significant monthly recurring revenue.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142875" y="2205037"/>
            <a:ext cx="1190625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Questions?</a:t>
            </a:r>
            <a:endParaRPr dirty="0"/>
          </a:p>
        </p:txBody>
      </p:sp>
      <p:sp>
        <p:nvSpPr>
          <p:cNvPr id="194" name="Google Shape;194;p22"/>
          <p:cNvSpPr txBox="1"/>
          <p:nvPr/>
        </p:nvSpPr>
        <p:spPr>
          <a:xfrm>
            <a:off x="142875" y="3348039"/>
            <a:ext cx="1162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371</Words>
  <Application>Microsoft Office PowerPoint</Application>
  <PresentationFormat>Widescreen</PresentationFormat>
  <Paragraphs>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Urbanist Medium</vt:lpstr>
      <vt:lpstr>Times New Roman</vt:lpstr>
      <vt:lpstr>Urbanist</vt:lpstr>
      <vt:lpstr>Calibri</vt:lpstr>
      <vt:lpstr>Times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Adhithyan Pradeep</cp:lastModifiedBy>
  <cp:revision>6</cp:revision>
  <dcterms:modified xsi:type="dcterms:W3CDTF">2025-12-24T18:35:28Z</dcterms:modified>
</cp:coreProperties>
</file>