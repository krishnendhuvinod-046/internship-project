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Times" panose="02020603050405020304" pitchFamily="18" charset="0"/>
      <p:regular r:id="rId13"/>
      <p:bold r:id="rId14"/>
      <p:italic r:id="rId15"/>
      <p:boldItalic r:id="rId16"/>
    </p:embeddedFont>
    <p:embeddedFont>
      <p:font typeface="Urbanist" panose="020B0604020202020204" charset="0"/>
      <p:regular r:id="rId17"/>
      <p:bold r:id="rId18"/>
      <p:italic r:id="rId19"/>
      <p:boldItalic r:id="rId20"/>
    </p:embeddedFont>
    <p:embeddedFont>
      <p:font typeface="Urbanist Medium" panose="020B060402020202020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341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42875" y="2200275"/>
            <a:ext cx="119062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0" i="0" u="none" strike="noStrike" cap="none" dirty="0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Strategic Customer 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4500" b="0" i="0" u="none" strike="noStrike" cap="none" dirty="0">
                <a:solidFill>
                  <a:srgbClr val="DEFF9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Retention Analysis</a:t>
            </a:r>
            <a:endParaRPr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285750" y="3533775"/>
            <a:ext cx="11620500" cy="947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Predicting Churn &amp; Maximizing Revenue using SQL &amp; Machine Learning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Submitted  by: Krishnendhu P A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/>
          <p:nvPr/>
        </p:nvSpPr>
        <p:spPr>
          <a:xfrm>
            <a:off x="5619750" y="2205037"/>
            <a:ext cx="952500" cy="3810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4"/>
          <p:cNvSpPr txBox="1"/>
          <p:nvPr/>
        </p:nvSpPr>
        <p:spPr>
          <a:xfrm>
            <a:off x="142875" y="2528887"/>
            <a:ext cx="11906250" cy="809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5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Executive Summary</a:t>
            </a:r>
            <a:endParaRPr/>
          </a:p>
        </p:txBody>
      </p:sp>
      <p:sp>
        <p:nvSpPr>
          <p:cNvPr id="94" name="Google Shape;94;p14"/>
          <p:cNvSpPr txBox="1"/>
          <p:nvPr/>
        </p:nvSpPr>
        <p:spPr>
          <a:xfrm>
            <a:off x="285750" y="3529012"/>
            <a:ext cx="116205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Identifying high-risk customer segments to deploy predictive retention strategies.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5750" y="1714500"/>
            <a:ext cx="5619750" cy="419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714500"/>
            <a:ext cx="5619750" cy="419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5"/>
          <p:cNvSpPr txBox="1"/>
          <p:nvPr/>
        </p:nvSpPr>
        <p:spPr>
          <a:xfrm>
            <a:off x="285750" y="285750"/>
            <a:ext cx="7130891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The Challenge &amp; Objective</a:t>
            </a:r>
            <a:endParaRPr/>
          </a:p>
        </p:txBody>
      </p:sp>
      <p:sp>
        <p:nvSpPr>
          <p:cNvPr id="103" name="Google Shape;103;p15"/>
          <p:cNvSpPr txBox="1"/>
          <p:nvPr/>
        </p:nvSpPr>
        <p:spPr>
          <a:xfrm>
            <a:off x="666750" y="2095500"/>
            <a:ext cx="510063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The Problem</a:t>
            </a:r>
            <a:endParaRPr/>
          </a:p>
        </p:txBody>
      </p:sp>
      <p:sp>
        <p:nvSpPr>
          <p:cNvPr id="104" name="Google Shape;104;p15"/>
          <p:cNvSpPr txBox="1"/>
          <p:nvPr/>
        </p:nvSpPr>
        <p:spPr>
          <a:xfrm>
            <a:off x="666750" y="2609850"/>
            <a:ext cx="485775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Customer churn is eroding recurring revenue. Identifying who leaves is reactive; identifying why they leave is proactive.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6667500" y="2095500"/>
            <a:ext cx="510063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The Objective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6667500" y="2609850"/>
            <a:ext cx="485775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Analyze historical customer behavior using SQL, build a Machine Learning model to predict churn risk, and deliver actionable strategies.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5750" y="2090737"/>
            <a:ext cx="3683049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54549" y="2090737"/>
            <a:ext cx="3683049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223349" y="2090737"/>
            <a:ext cx="3683049" cy="343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6"/>
          <p:cNvSpPr txBox="1"/>
          <p:nvPr/>
        </p:nvSpPr>
        <p:spPr>
          <a:xfrm>
            <a:off x="285750" y="285750"/>
            <a:ext cx="670083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Methodology: Tech Stack</a:t>
            </a:r>
            <a:endParaRPr/>
          </a:p>
        </p:txBody>
      </p:sp>
      <p:pic>
        <p:nvPicPr>
          <p:cNvPr id="116" name="Google Shape;116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2376487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6"/>
          <p:cNvSpPr txBox="1"/>
          <p:nvPr/>
        </p:nvSpPr>
        <p:spPr>
          <a:xfrm>
            <a:off x="571500" y="3186112"/>
            <a:ext cx="32671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DEFF9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SQL Engineering</a:t>
            </a: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571500" y="3986212"/>
            <a:ext cx="3111549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Ingested raw logs, normalized schema to snake_case, and engineered the "High Value at Risk" feature.</a:t>
            </a:r>
            <a:endParaRPr/>
          </a:p>
        </p:txBody>
      </p:sp>
      <p:pic>
        <p:nvPicPr>
          <p:cNvPr id="119" name="Google Shape;119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40299" y="2376487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 txBox="1"/>
          <p:nvPr/>
        </p:nvSpPr>
        <p:spPr>
          <a:xfrm>
            <a:off x="4540299" y="3186112"/>
            <a:ext cx="32671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DEFF9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Predictive ML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4540299" y="3986212"/>
            <a:ext cx="3111549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Built an XGBoost Classifier with SMOTE to handle class imbalance (85/15 split).</a:t>
            </a:r>
            <a:endParaRPr/>
          </a:p>
        </p:txBody>
      </p:sp>
      <p:pic>
        <p:nvPicPr>
          <p:cNvPr id="122" name="Google Shape;122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509099" y="2376487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8509099" y="3186112"/>
            <a:ext cx="32671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DEFF9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Explainability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8509099" y="3986212"/>
            <a:ext cx="3111549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Utilized SHAP (SHapley Additive exPlanations) to decode predictions and find root causes.</a:t>
            </a:r>
            <a:endParaRPr/>
          </a:p>
        </p:txBody>
      </p:sp>
      <p:pic>
        <p:nvPicPr>
          <p:cNvPr id="125" name="Google Shape;125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57237" y="2547937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711749" y="2547937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80549" y="2547937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2740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7"/>
          <p:cNvSpPr txBox="1"/>
          <p:nvPr/>
        </p:nvSpPr>
        <p:spPr>
          <a:xfrm>
            <a:off x="285750" y="285750"/>
            <a:ext cx="5450681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Phase 1: SQL Insights</a:t>
            </a:r>
            <a:endParaRPr/>
          </a:p>
        </p:txBody>
      </p:sp>
      <p:sp>
        <p:nvSpPr>
          <p:cNvPr id="135" name="Google Shape;135;p17"/>
          <p:cNvSpPr txBox="1"/>
          <p:nvPr/>
        </p:nvSpPr>
        <p:spPr>
          <a:xfrm>
            <a:off x="285750" y="1714500"/>
            <a:ext cx="614311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"It's Not About Usage"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285750" y="2228850"/>
            <a:ext cx="5850582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Our analysis revealed a critical insight: Average Call Duration is actually higher for some churners.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285750" y="2952750"/>
            <a:ext cx="5850582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These are not dormant users; they are active users who became frustrated. The SQL query on the right isolates this specific "High Value at Risk" segment.</a:t>
            </a:r>
            <a:endParaRPr/>
          </a:p>
        </p:txBody>
      </p:sp>
      <p:pic>
        <p:nvPicPr>
          <p:cNvPr id="138" name="Google Shape;138;p17"/>
          <p:cNvPicPr preferRelativeResize="0"/>
          <p:nvPr/>
        </p:nvPicPr>
        <p:blipFill>
          <a:blip r:embed="rId4">
            <a:alphaModFix/>
          </a:blip>
          <a:srcRect/>
          <a:stretch/>
        </p:blipFill>
        <p:spPr>
          <a:xfrm>
            <a:off x="6631634" y="2762250"/>
            <a:ext cx="5274616" cy="7941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5750" y="1714500"/>
            <a:ext cx="11620500" cy="419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8"/>
          <p:cNvSpPr txBox="1"/>
          <p:nvPr/>
        </p:nvSpPr>
        <p:spPr>
          <a:xfrm>
            <a:off x="285750" y="285750"/>
            <a:ext cx="756094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Phase 2: Model Performance</a:t>
            </a:r>
            <a:endParaRPr/>
          </a:p>
        </p:txBody>
      </p:sp>
      <p:sp>
        <p:nvSpPr>
          <p:cNvPr id="146" name="Google Shape;146;p18"/>
          <p:cNvSpPr txBox="1"/>
          <p:nvPr/>
        </p:nvSpPr>
        <p:spPr>
          <a:xfrm>
            <a:off x="285750" y="4938712"/>
            <a:ext cx="116205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The model maintains high precision while capturing nearly 79% of all potential churners, minimizing false alarms.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9"/>
          <p:cNvSpPr txBox="1"/>
          <p:nvPr/>
        </p:nvSpPr>
        <p:spPr>
          <a:xfrm>
            <a:off x="571500" y="571500"/>
            <a:ext cx="555069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Phase 3: Root Cause</a:t>
            </a:r>
            <a:endParaRPr/>
          </a:p>
        </p:txBody>
      </p:sp>
      <p:pic>
        <p:nvPicPr>
          <p:cNvPr id="153" name="Google Shape;153;p19"/>
          <p:cNvPicPr preferRelativeResize="0"/>
          <p:nvPr/>
        </p:nvPicPr>
        <p:blipFill>
          <a:blip r:embed="rId4">
            <a:alphaModFix/>
          </a:blip>
          <a:srcRect/>
          <a:stretch/>
        </p:blipFill>
        <p:spPr>
          <a:xfrm>
            <a:off x="6334125" y="484965"/>
            <a:ext cx="5857875" cy="588807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9"/>
          <p:cNvSpPr txBox="1"/>
          <p:nvPr/>
        </p:nvSpPr>
        <p:spPr>
          <a:xfrm>
            <a:off x="571500" y="2790825"/>
            <a:ext cx="555069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SHAP Analysis</a:t>
            </a:r>
            <a:endParaRPr/>
          </a:p>
        </p:txBody>
      </p:sp>
      <p:sp>
        <p:nvSpPr>
          <p:cNvPr id="155" name="Google Shape;155;p19"/>
          <p:cNvSpPr txBox="1"/>
          <p:nvPr/>
        </p:nvSpPr>
        <p:spPr>
          <a:xfrm>
            <a:off x="571500" y="3305175"/>
            <a:ext cx="528637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The SHAP summary plot confirms that </a:t>
            </a: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Complaints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are the strongest predictor of churn.</a:t>
            </a:r>
            <a:endParaRPr/>
          </a:p>
        </p:txBody>
      </p:sp>
      <p:sp>
        <p:nvSpPr>
          <p:cNvPr id="156" name="Google Shape;156;p19"/>
          <p:cNvSpPr txBox="1"/>
          <p:nvPr/>
        </p:nvSpPr>
        <p:spPr>
          <a:xfrm>
            <a:off x="571500" y="4029075"/>
            <a:ext cx="5286375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Surprisingly, </a:t>
            </a: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Frequency of Use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has a negative correlation with churn. Heavy users are more loyal, provided they don't experience service failures.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5750" y="2224087"/>
            <a:ext cx="3683049" cy="3171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54549" y="2224087"/>
            <a:ext cx="3683049" cy="3171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223349" y="2224087"/>
            <a:ext cx="3683049" cy="3171825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0"/>
          <p:cNvSpPr txBox="1"/>
          <p:nvPr/>
        </p:nvSpPr>
        <p:spPr>
          <a:xfrm>
            <a:off x="285750" y="285750"/>
            <a:ext cx="7570946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Strategic Recommendations</a:t>
            </a:r>
            <a:endParaRPr/>
          </a:p>
        </p:txBody>
      </p:sp>
      <p:pic>
        <p:nvPicPr>
          <p:cNvPr id="166" name="Google Shape;166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2509837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0"/>
          <p:cNvSpPr txBox="1"/>
          <p:nvPr/>
        </p:nvSpPr>
        <p:spPr>
          <a:xfrm>
            <a:off x="571500" y="3319462"/>
            <a:ext cx="32671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DEFF9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Service Recovery</a:t>
            </a:r>
            <a:endParaRPr/>
          </a:p>
        </p:txBody>
      </p:sp>
      <p:sp>
        <p:nvSpPr>
          <p:cNvPr id="168" name="Google Shape;168;p20"/>
          <p:cNvSpPr txBox="1"/>
          <p:nvPr/>
        </p:nvSpPr>
        <p:spPr>
          <a:xfrm>
            <a:off x="571500" y="4119562"/>
            <a:ext cx="3111549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Route "High Value" complainers to Senior Support immediately to resolve issues before renewal.</a:t>
            </a:r>
            <a:endParaRPr/>
          </a:p>
        </p:txBody>
      </p:sp>
      <p:pic>
        <p:nvPicPr>
          <p:cNvPr id="169" name="Google Shape;169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40299" y="2509837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0"/>
          <p:cNvSpPr txBox="1"/>
          <p:nvPr/>
        </p:nvSpPr>
        <p:spPr>
          <a:xfrm>
            <a:off x="4540299" y="3319462"/>
            <a:ext cx="32671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DEFF9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Loyalty Lock-In</a:t>
            </a:r>
            <a:endParaRPr/>
          </a:p>
        </p:txBody>
      </p:sp>
      <p:sp>
        <p:nvSpPr>
          <p:cNvPr id="171" name="Google Shape;171;p20"/>
          <p:cNvSpPr txBox="1"/>
          <p:nvPr/>
        </p:nvSpPr>
        <p:spPr>
          <a:xfrm>
            <a:off x="4540299" y="4119562"/>
            <a:ext cx="3111549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Target heavy users with long-term upgrades rather than discounts, leveraging their habit.</a:t>
            </a:r>
            <a:endParaRPr/>
          </a:p>
        </p:txBody>
      </p:sp>
      <p:pic>
        <p:nvPicPr>
          <p:cNvPr id="172" name="Google Shape;172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509099" y="2509837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0"/>
          <p:cNvSpPr txBox="1"/>
          <p:nvPr/>
        </p:nvSpPr>
        <p:spPr>
          <a:xfrm>
            <a:off x="8509099" y="3319462"/>
            <a:ext cx="32671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DEFF9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Silent Warning</a:t>
            </a:r>
            <a:endParaRPr/>
          </a:p>
        </p:txBody>
      </p:sp>
      <p:sp>
        <p:nvSpPr>
          <p:cNvPr id="174" name="Google Shape;174;p20"/>
          <p:cNvSpPr txBox="1"/>
          <p:nvPr/>
        </p:nvSpPr>
        <p:spPr>
          <a:xfrm>
            <a:off x="8509099" y="4119562"/>
            <a:ext cx="3111549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Monitor "Seconds of Use". A sudden drop is a leading indicator of churn before cancellation.</a:t>
            </a:r>
            <a:endParaRPr/>
          </a:p>
        </p:txBody>
      </p:sp>
      <p:pic>
        <p:nvPicPr>
          <p:cNvPr id="175" name="Google Shape;175;p20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42950" y="2681287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20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726037" y="2681287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0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94836" y="2681287"/>
            <a:ext cx="200025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1"/>
          <p:cNvSpPr txBox="1"/>
          <p:nvPr/>
        </p:nvSpPr>
        <p:spPr>
          <a:xfrm>
            <a:off x="285750" y="285750"/>
            <a:ext cx="4150518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Impact Analysis</a:t>
            </a:r>
            <a:endParaRPr/>
          </a:p>
        </p:txBody>
      </p:sp>
      <p:sp>
        <p:nvSpPr>
          <p:cNvPr id="184" name="Google Shape;184;p21"/>
          <p:cNvSpPr txBox="1"/>
          <p:nvPr/>
        </p:nvSpPr>
        <p:spPr>
          <a:xfrm>
            <a:off x="285750" y="2919412"/>
            <a:ext cx="2857500" cy="1731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0" b="1" dirty="0">
                <a:solidFill>
                  <a:srgbClr val="DEFF9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20</a:t>
            </a:r>
            <a:r>
              <a:rPr lang="en-US" sz="11250" b="1" i="0" u="none" strike="noStrike" cap="none" dirty="0">
                <a:solidFill>
                  <a:srgbClr val="DEFF9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%</a:t>
            </a:r>
            <a:endParaRPr dirty="0"/>
          </a:p>
        </p:txBody>
      </p:sp>
      <p:sp>
        <p:nvSpPr>
          <p:cNvPr id="185" name="Google Shape;185;p21"/>
          <p:cNvSpPr txBox="1"/>
          <p:nvPr/>
        </p:nvSpPr>
        <p:spPr>
          <a:xfrm>
            <a:off x="285750" y="4443412"/>
            <a:ext cx="28575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Times"/>
                <a:ea typeface="Times"/>
                <a:cs typeface="Times"/>
                <a:sym typeface="Times"/>
              </a:rPr>
              <a:t>High Value Users at Risk</a:t>
            </a:r>
            <a:endParaRPr/>
          </a:p>
        </p:txBody>
      </p:sp>
      <p:sp>
        <p:nvSpPr>
          <p:cNvPr id="186" name="Google Shape;186;p21"/>
          <p:cNvSpPr txBox="1"/>
          <p:nvPr/>
        </p:nvSpPr>
        <p:spPr>
          <a:xfrm>
            <a:off x="3714750" y="3190875"/>
            <a:ext cx="84772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Revenue Protection</a:t>
            </a:r>
            <a:endParaRPr/>
          </a:p>
        </p:txBody>
      </p:sp>
      <p:sp>
        <p:nvSpPr>
          <p:cNvPr id="187" name="Google Shape;187;p21"/>
          <p:cNvSpPr txBox="1"/>
          <p:nvPr/>
        </p:nvSpPr>
        <p:spPr>
          <a:xfrm>
            <a:off x="3714750" y="3705225"/>
            <a:ext cx="81915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Implementing these strategies targets the 18% of top-tier users currently flagged as "At Risk", potentially saving significant monthly recurring revenue.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2"/>
          <p:cNvSpPr txBox="1"/>
          <p:nvPr/>
        </p:nvSpPr>
        <p:spPr>
          <a:xfrm>
            <a:off x="142875" y="2205037"/>
            <a:ext cx="11906250" cy="1038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0" b="0" i="0" u="none" strike="noStrike" cap="none" dirty="0">
                <a:solidFill>
                  <a:srgbClr val="DEFF9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Questions?</a:t>
            </a:r>
            <a:endParaRPr dirty="0"/>
          </a:p>
        </p:txBody>
      </p:sp>
      <p:sp>
        <p:nvSpPr>
          <p:cNvPr id="194" name="Google Shape;194;p22"/>
          <p:cNvSpPr txBox="1"/>
          <p:nvPr/>
        </p:nvSpPr>
        <p:spPr>
          <a:xfrm>
            <a:off x="142875" y="3348039"/>
            <a:ext cx="116205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Thank you for your time.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371</Words>
  <Application>Microsoft Office PowerPoint</Application>
  <PresentationFormat>Widescreen</PresentationFormat>
  <Paragraphs>41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Urbanist Medium</vt:lpstr>
      <vt:lpstr>Arial</vt:lpstr>
      <vt:lpstr>Times New Roman</vt:lpstr>
      <vt:lpstr>Calibri</vt:lpstr>
      <vt:lpstr>Times</vt:lpstr>
      <vt:lpstr>Urbanist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Office</cp:lastModifiedBy>
  <cp:revision>5</cp:revision>
  <dcterms:modified xsi:type="dcterms:W3CDTF">2025-12-20T08:26:14Z</dcterms:modified>
</cp:coreProperties>
</file>